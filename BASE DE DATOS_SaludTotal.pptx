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7" r:id="rId3"/>
    <p:sldId id="258" r:id="rId4"/>
    <p:sldId id="264" r:id="rId5"/>
    <p:sldId id="261" r:id="rId6"/>
    <p:sldId id="260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9" r:id="rId20"/>
    <p:sldId id="280" r:id="rId21"/>
    <p:sldId id="28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3" d="100"/>
          <a:sy n="43" d="100"/>
        </p:scale>
        <p:origin x="87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B9506C0-9D6D-4772-832F-6CFE9C3B5926}" type="datetimeFigureOut">
              <a:rPr lang="es-CO" smtClean="0"/>
              <a:t>21/06/2026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993EC3B-BB75-4776-9AE2-F21F35670D6A}" type="slidenum">
              <a:rPr lang="es-CO" smtClean="0"/>
              <a:t>‹Nº›</a:t>
            </a:fld>
            <a:endParaRPr lang="es-CO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78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506C0-9D6D-4772-832F-6CFE9C3B5926}" type="datetimeFigureOut">
              <a:rPr lang="es-CO" smtClean="0"/>
              <a:t>21/06/2026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EC3B-BB75-4776-9AE2-F21F35670D6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3806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506C0-9D6D-4772-832F-6CFE9C3B5926}" type="datetimeFigureOut">
              <a:rPr lang="es-CO" smtClean="0"/>
              <a:t>21/06/2026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EC3B-BB75-4776-9AE2-F21F35670D6A}" type="slidenum">
              <a:rPr lang="es-CO" smtClean="0"/>
              <a:t>‹Nº›</a:t>
            </a:fld>
            <a:endParaRPr lang="es-CO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013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506C0-9D6D-4772-832F-6CFE9C3B5926}" type="datetimeFigureOut">
              <a:rPr lang="es-CO" smtClean="0"/>
              <a:t>21/06/2026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EC3B-BB75-4776-9AE2-F21F35670D6A}" type="slidenum">
              <a:rPr lang="es-CO" smtClean="0"/>
              <a:t>‹Nº›</a:t>
            </a:fld>
            <a:endParaRPr lang="es-CO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798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506C0-9D6D-4772-832F-6CFE9C3B5926}" type="datetimeFigureOut">
              <a:rPr lang="es-CO" smtClean="0"/>
              <a:t>21/06/2026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EC3B-BB75-4776-9AE2-F21F35670D6A}" type="slidenum">
              <a:rPr lang="es-CO" smtClean="0"/>
              <a:t>‹Nº›</a:t>
            </a:fld>
            <a:endParaRPr lang="es-CO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298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506C0-9D6D-4772-832F-6CFE9C3B5926}" type="datetimeFigureOut">
              <a:rPr lang="es-CO" smtClean="0"/>
              <a:t>21/06/2026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EC3B-BB75-4776-9AE2-F21F35670D6A}" type="slidenum">
              <a:rPr lang="es-CO" smtClean="0"/>
              <a:t>‹Nº›</a:t>
            </a:fld>
            <a:endParaRPr lang="es-CO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883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506C0-9D6D-4772-832F-6CFE9C3B5926}" type="datetimeFigureOut">
              <a:rPr lang="es-CO" smtClean="0"/>
              <a:t>21/06/2026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EC3B-BB75-4776-9AE2-F21F35670D6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79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506C0-9D6D-4772-832F-6CFE9C3B5926}" type="datetimeFigureOut">
              <a:rPr lang="es-CO" smtClean="0"/>
              <a:t>21/06/2026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EC3B-BB75-4776-9AE2-F21F35670D6A}" type="slidenum">
              <a:rPr lang="es-CO" smtClean="0"/>
              <a:t>‹Nº›</a:t>
            </a:fld>
            <a:endParaRPr lang="es-CO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85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506C0-9D6D-4772-832F-6CFE9C3B5926}" type="datetimeFigureOut">
              <a:rPr lang="es-CO" smtClean="0"/>
              <a:t>21/06/2026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EC3B-BB75-4776-9AE2-F21F35670D6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4673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506C0-9D6D-4772-832F-6CFE9C3B5926}" type="datetimeFigureOut">
              <a:rPr lang="es-CO" smtClean="0"/>
              <a:t>21/06/2026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EC3B-BB75-4776-9AE2-F21F35670D6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9909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506C0-9D6D-4772-832F-6CFE9C3B5926}" type="datetimeFigureOut">
              <a:rPr lang="es-CO" smtClean="0"/>
              <a:t>21/06/2026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EC3B-BB75-4776-9AE2-F21F35670D6A}" type="slidenum">
              <a:rPr lang="es-CO" smtClean="0"/>
              <a:t>‹Nº›</a:t>
            </a:fld>
            <a:endParaRPr lang="es-CO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150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506C0-9D6D-4772-832F-6CFE9C3B5926}" type="datetimeFigureOut">
              <a:rPr lang="es-CO" smtClean="0"/>
              <a:t>21/06/2026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EC3B-BB75-4776-9AE2-F21F35670D6A}" type="slidenum">
              <a:rPr lang="es-CO" smtClean="0"/>
              <a:t>‹Nº›</a:t>
            </a:fld>
            <a:endParaRPr lang="es-CO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692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506C0-9D6D-4772-832F-6CFE9C3B5926}" type="datetimeFigureOut">
              <a:rPr lang="es-CO" smtClean="0"/>
              <a:t>21/06/2026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EC3B-BB75-4776-9AE2-F21F35670D6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94743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506C0-9D6D-4772-832F-6CFE9C3B5926}" type="datetimeFigureOut">
              <a:rPr lang="es-CO" smtClean="0"/>
              <a:t>21/06/2026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EC3B-BB75-4776-9AE2-F21F35670D6A}" type="slidenum">
              <a:rPr lang="es-CO" smtClean="0"/>
              <a:t>‹Nº›</a:t>
            </a:fld>
            <a:endParaRPr lang="es-CO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472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506C0-9D6D-4772-832F-6CFE9C3B5926}" type="datetimeFigureOut">
              <a:rPr lang="es-CO" smtClean="0"/>
              <a:t>21/06/2026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EC3B-BB75-4776-9AE2-F21F35670D6A}" type="slidenum">
              <a:rPr lang="es-CO" smtClean="0"/>
              <a:t>‹Nº›</a:t>
            </a:fld>
            <a:endParaRPr lang="es-CO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507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506C0-9D6D-4772-832F-6CFE9C3B5926}" type="datetimeFigureOut">
              <a:rPr lang="es-CO" smtClean="0"/>
              <a:t>21/06/2026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EC3B-BB75-4776-9AE2-F21F35670D6A}" type="slidenum">
              <a:rPr lang="es-CO" smtClean="0"/>
              <a:t>‹Nº›</a:t>
            </a:fld>
            <a:endParaRPr lang="es-CO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1753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506C0-9D6D-4772-832F-6CFE9C3B5926}" type="datetimeFigureOut">
              <a:rPr lang="es-CO" smtClean="0"/>
              <a:t>21/06/2026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EC3B-BB75-4776-9AE2-F21F35670D6A}" type="slidenum">
              <a:rPr lang="es-CO" smtClean="0"/>
              <a:t>‹Nº›</a:t>
            </a:fld>
            <a:endParaRPr lang="es-CO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093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B9506C0-9D6D-4772-832F-6CFE9C3B5926}" type="datetimeFigureOut">
              <a:rPr lang="es-CO" smtClean="0"/>
              <a:t>21/06/2026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993EC3B-BB75-4776-9AE2-F21F35670D6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0560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5E7D86-8D1A-6041-A179-651F826BF8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/>
              <a:t>BASE DE DATOS</a:t>
            </a:r>
            <a:br>
              <a:rPr lang="es-ES" b="1" dirty="0"/>
            </a:br>
            <a:r>
              <a:rPr lang="es-ES" b="1" dirty="0"/>
              <a:t>SALUD TOTAL</a:t>
            </a:r>
            <a:endParaRPr lang="es-C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D3794B-4D33-7554-E6A0-CB669CA8FF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b="1" dirty="0"/>
              <a:t>CAROL HERNANDEZ</a:t>
            </a:r>
          </a:p>
          <a:p>
            <a:r>
              <a:rPr lang="es-ES" b="1" dirty="0"/>
              <a:t>FICHA: 3275760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29649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CD4A9-7FE4-BED2-F1F4-10D3D3562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PROBLEMÁTICA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73A792-C7C3-5244-CA27-111C987CD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2977" y="2912534"/>
            <a:ext cx="9601196" cy="33189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400" dirty="0"/>
              <a:t>La clínica SaludTotal necesita un sistema que permita administrar pacientes, médicos, especialidades, citas y diagnósticos de forma organizada y eficiente, evitando errores y mejorando el acceso a la información.</a:t>
            </a:r>
            <a:endParaRPr lang="es-CO" sz="3200" dirty="0"/>
          </a:p>
        </p:txBody>
      </p:sp>
    </p:spTree>
    <p:extLst>
      <p:ext uri="{BB962C8B-B14F-4D97-AF65-F5344CB8AC3E}">
        <p14:creationId xmlns:p14="http://schemas.microsoft.com/office/powerpoint/2010/main" val="1815830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CD4A9-7FE4-BED2-F1F4-10D3D3562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ENTIDADES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73A792-C7C3-5244-CA27-111C987CD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800" dirty="0"/>
              <a:t>PACIENTE</a:t>
            </a:r>
          </a:p>
          <a:p>
            <a:r>
              <a:rPr lang="es-ES" sz="2800" dirty="0"/>
              <a:t>ESPECIALIDAD</a:t>
            </a:r>
          </a:p>
          <a:p>
            <a:r>
              <a:rPr lang="es-ES" sz="2800" dirty="0"/>
              <a:t>MEDICO</a:t>
            </a:r>
          </a:p>
          <a:p>
            <a:r>
              <a:rPr lang="es-ES" sz="2800" dirty="0"/>
              <a:t>CITA</a:t>
            </a:r>
          </a:p>
          <a:p>
            <a:r>
              <a:rPr lang="es-ES" sz="2800" dirty="0"/>
              <a:t>DIAGNOSTICO</a:t>
            </a:r>
          </a:p>
        </p:txBody>
      </p:sp>
    </p:spTree>
    <p:extLst>
      <p:ext uri="{BB962C8B-B14F-4D97-AF65-F5344CB8AC3E}">
        <p14:creationId xmlns:p14="http://schemas.microsoft.com/office/powerpoint/2010/main" val="336023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B9D692-3092-BC24-8DDB-BE4308FA6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ATRIBUTOS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026B36-6486-8977-B312-45DD8C82E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316" y="2940024"/>
            <a:ext cx="9601196" cy="3318936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dirty="0"/>
              <a:t>id_paciente → Número entero  (PK)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dirty="0"/>
              <a:t>numDocumento → Texto (20)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2400" dirty="0"/>
              <a:t>nombres → Texto  (50)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2400" dirty="0"/>
              <a:t>apellidos → Texto  (50)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dirty="0"/>
              <a:t>fechaNacimiento → Fecha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2400" dirty="0"/>
              <a:t>direccion → Texto (100)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2400" dirty="0"/>
              <a:t>telefono → Texto (20)</a:t>
            </a:r>
          </a:p>
          <a:p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E1E729C-0D45-7C55-993E-EE1DB9F36F66}"/>
              </a:ext>
            </a:extLst>
          </p:cNvPr>
          <p:cNvSpPr txBox="1"/>
          <p:nvPr/>
        </p:nvSpPr>
        <p:spPr>
          <a:xfrm>
            <a:off x="1062316" y="2416804"/>
            <a:ext cx="2622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PACIENTE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4235737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CD4A9-7FE4-BED2-F1F4-10D3D3562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ATRIBUTOS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73A792-C7C3-5244-CA27-111C987CD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r>
              <a:rPr lang="es-ES" dirty="0"/>
              <a:t>id_especialidad → Número entero (PK) </a:t>
            </a:r>
          </a:p>
          <a:p>
            <a:r>
              <a:rPr lang="es-ES" dirty="0"/>
              <a:t>nombre → Texto </a:t>
            </a:r>
            <a:r>
              <a:rPr lang="es-CO" sz="2400" dirty="0"/>
              <a:t>(50)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0F25CFE2-70B0-71F0-47A5-DBB3CCD77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3647" y="2652663"/>
            <a:ext cx="8915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E7F7534-86ED-160E-261E-79CF1E17CDBB}"/>
              </a:ext>
            </a:extLst>
          </p:cNvPr>
          <p:cNvSpPr txBox="1"/>
          <p:nvPr/>
        </p:nvSpPr>
        <p:spPr>
          <a:xfrm>
            <a:off x="1378323" y="2398067"/>
            <a:ext cx="3281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ESPECIALIDAD</a:t>
            </a:r>
            <a:endParaRPr lang="es-CO" sz="2400" b="1" dirty="0"/>
          </a:p>
        </p:txBody>
      </p:sp>
    </p:spTree>
    <p:extLst>
      <p:ext uri="{BB962C8B-B14F-4D97-AF65-F5344CB8AC3E}">
        <p14:creationId xmlns:p14="http://schemas.microsoft.com/office/powerpoint/2010/main" val="465724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CD4A9-7FE4-BED2-F1F4-10D3D3562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ATRIBUTOS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73A792-C7C3-5244-CA27-111C987CD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323" y="3094910"/>
            <a:ext cx="9601196" cy="2780958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id_medico → Número entero  (PK)</a:t>
            </a:r>
          </a:p>
          <a:p>
            <a:r>
              <a:rPr lang="es-ES" dirty="0"/>
              <a:t>nombres → Texto  </a:t>
            </a:r>
            <a:r>
              <a:rPr lang="es-CO" sz="2400" dirty="0"/>
              <a:t>(50)</a:t>
            </a:r>
            <a:endParaRPr lang="es-ES" dirty="0"/>
          </a:p>
          <a:p>
            <a:r>
              <a:rPr lang="es-ES" dirty="0"/>
              <a:t>apellidos → Texto  </a:t>
            </a:r>
            <a:r>
              <a:rPr lang="es-CO" sz="2400" dirty="0"/>
              <a:t>(50)</a:t>
            </a:r>
            <a:endParaRPr lang="es-ES" dirty="0"/>
          </a:p>
          <a:p>
            <a:r>
              <a:rPr lang="es-ES" dirty="0"/>
              <a:t>correo → Texto  </a:t>
            </a:r>
            <a:r>
              <a:rPr lang="es-CO" sz="2400" dirty="0"/>
              <a:t>(40)</a:t>
            </a:r>
            <a:endParaRPr lang="es-ES" dirty="0"/>
          </a:p>
          <a:p>
            <a:r>
              <a:rPr lang="es-ES" dirty="0"/>
              <a:t>numLicenciaProfesional → Texto </a:t>
            </a:r>
            <a:r>
              <a:rPr lang="es-CO" sz="2400" dirty="0"/>
              <a:t>(30)</a:t>
            </a:r>
            <a:endParaRPr lang="es-ES" dirty="0"/>
          </a:p>
          <a:p>
            <a:r>
              <a:rPr lang="es-ES" dirty="0"/>
              <a:t>id_especialidad → Número entero (FK)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FA1E35B-C606-0CCD-449B-CF67E50D1E05}"/>
              </a:ext>
            </a:extLst>
          </p:cNvPr>
          <p:cNvSpPr txBox="1"/>
          <p:nvPr/>
        </p:nvSpPr>
        <p:spPr>
          <a:xfrm>
            <a:off x="1378323" y="2398067"/>
            <a:ext cx="3281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MEDICO</a:t>
            </a:r>
            <a:endParaRPr lang="es-CO" sz="2400" b="1" dirty="0"/>
          </a:p>
        </p:txBody>
      </p:sp>
    </p:spTree>
    <p:extLst>
      <p:ext uri="{BB962C8B-B14F-4D97-AF65-F5344CB8AC3E}">
        <p14:creationId xmlns:p14="http://schemas.microsoft.com/office/powerpoint/2010/main" val="848823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CD4A9-7FE4-BED2-F1F4-10D3D3562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ATRIBUTOS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73A792-C7C3-5244-CA27-111C987CD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3125488"/>
            <a:ext cx="9437590" cy="2893026"/>
          </a:xfrm>
        </p:spPr>
        <p:txBody>
          <a:bodyPr>
            <a:normAutofit fontScale="92500" lnSpcReduction="20000"/>
          </a:bodyPr>
          <a:lstStyle/>
          <a:p>
            <a:r>
              <a:rPr lang="es-CO" dirty="0"/>
              <a:t>id_cita → Número entero (PK)</a:t>
            </a:r>
          </a:p>
          <a:p>
            <a:r>
              <a:rPr lang="es-CO" dirty="0"/>
              <a:t>fecha → Fecha </a:t>
            </a:r>
          </a:p>
          <a:p>
            <a:r>
              <a:rPr lang="es-CO" dirty="0"/>
              <a:t>hora → Hora</a:t>
            </a:r>
          </a:p>
          <a:p>
            <a:r>
              <a:rPr lang="es-CO" dirty="0"/>
              <a:t>consultorio → Texto </a:t>
            </a:r>
            <a:r>
              <a:rPr lang="es-CO" sz="2400" dirty="0"/>
              <a:t>(20)</a:t>
            </a:r>
            <a:endParaRPr lang="es-CO" dirty="0"/>
          </a:p>
          <a:p>
            <a:r>
              <a:rPr lang="es-CO" dirty="0"/>
              <a:t>estado → Texto  </a:t>
            </a:r>
            <a:r>
              <a:rPr lang="es-CO" sz="2400" dirty="0"/>
              <a:t>(20)</a:t>
            </a:r>
            <a:endParaRPr lang="es-CO" dirty="0"/>
          </a:p>
          <a:p>
            <a:r>
              <a:rPr lang="es-CO" dirty="0"/>
              <a:t>id_paciente → Número entero (FK)</a:t>
            </a:r>
          </a:p>
          <a:p>
            <a:r>
              <a:rPr lang="es-CO" dirty="0"/>
              <a:t>id_medico → Número entero  (FK)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23F3171-43E0-2781-9717-5AA10436CE69}"/>
              </a:ext>
            </a:extLst>
          </p:cNvPr>
          <p:cNvSpPr txBox="1"/>
          <p:nvPr/>
        </p:nvSpPr>
        <p:spPr>
          <a:xfrm>
            <a:off x="1378323" y="2398067"/>
            <a:ext cx="3281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CITA</a:t>
            </a:r>
            <a:endParaRPr lang="es-CO" sz="2400" b="1" dirty="0"/>
          </a:p>
        </p:txBody>
      </p:sp>
    </p:spTree>
    <p:extLst>
      <p:ext uri="{BB962C8B-B14F-4D97-AF65-F5344CB8AC3E}">
        <p14:creationId xmlns:p14="http://schemas.microsoft.com/office/powerpoint/2010/main" val="257305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CD4A9-7FE4-BED2-F1F4-10D3D3562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ATRIBUTOS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73A792-C7C3-5244-CA27-111C987CD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3094910"/>
            <a:ext cx="9601196" cy="3318936"/>
          </a:xfrm>
        </p:spPr>
        <p:txBody>
          <a:bodyPr/>
          <a:lstStyle/>
          <a:p>
            <a:r>
              <a:rPr lang="es-ES" dirty="0"/>
              <a:t>id_diagnostico → Número entero (PK)</a:t>
            </a:r>
          </a:p>
          <a:p>
            <a:r>
              <a:rPr lang="es-ES" dirty="0"/>
              <a:t>descripcion → Texto </a:t>
            </a:r>
            <a:r>
              <a:rPr lang="es-CO" sz="2400" dirty="0"/>
              <a:t>(50)</a:t>
            </a:r>
            <a:endParaRPr lang="es-ES" dirty="0"/>
          </a:p>
          <a:p>
            <a:r>
              <a:rPr lang="es-ES" dirty="0"/>
              <a:t>tratamiento → Texto </a:t>
            </a:r>
            <a:r>
              <a:rPr lang="es-CO" sz="2400" dirty="0"/>
              <a:t>(50)</a:t>
            </a:r>
            <a:endParaRPr lang="es-ES" dirty="0"/>
          </a:p>
          <a:p>
            <a:r>
              <a:rPr lang="es-ES" dirty="0"/>
              <a:t>id_cita → Número entero (FK)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E902D85-6D68-24CA-830E-8BEAA56468C1}"/>
              </a:ext>
            </a:extLst>
          </p:cNvPr>
          <p:cNvSpPr txBox="1"/>
          <p:nvPr/>
        </p:nvSpPr>
        <p:spPr>
          <a:xfrm>
            <a:off x="1378323" y="2398067"/>
            <a:ext cx="3281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DIAGNOSTICO</a:t>
            </a:r>
            <a:endParaRPr lang="es-CO" sz="2400" b="1" dirty="0"/>
          </a:p>
        </p:txBody>
      </p:sp>
    </p:spTree>
    <p:extLst>
      <p:ext uri="{BB962C8B-B14F-4D97-AF65-F5344CB8AC3E}">
        <p14:creationId xmlns:p14="http://schemas.microsoft.com/office/powerpoint/2010/main" val="1152619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CD4A9-7FE4-BED2-F1F4-10D3D3562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MODELO CONCEPTUAL</a:t>
            </a:r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582403A-8879-A6C1-A4F4-1D1068250162}"/>
              </a:ext>
            </a:extLst>
          </p:cNvPr>
          <p:cNvSpPr txBox="1"/>
          <p:nvPr/>
        </p:nvSpPr>
        <p:spPr>
          <a:xfrm>
            <a:off x="1848971" y="1916667"/>
            <a:ext cx="84940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Es el qué identifica entidades y sus relaciones a nivel de negocio.</a:t>
            </a:r>
            <a:endParaRPr lang="es-CO" sz="2400" dirty="0"/>
          </a:p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3ED0D92-DB6C-7998-39FF-AA0B6B038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071" y="2655331"/>
            <a:ext cx="9265023" cy="296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94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CD4A9-7FE4-BED2-F1F4-10D3D356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551826"/>
            <a:ext cx="9601196" cy="1303867"/>
          </a:xfrm>
        </p:spPr>
        <p:txBody>
          <a:bodyPr/>
          <a:lstStyle/>
          <a:p>
            <a:r>
              <a:rPr lang="es-ES" b="1" dirty="0"/>
              <a:t>MODELO LÓGICO</a:t>
            </a:r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E5C100A-EF00-F6DC-B57E-4A84A3364042}"/>
              </a:ext>
            </a:extLst>
          </p:cNvPr>
          <p:cNvSpPr txBox="1"/>
          <p:nvPr/>
        </p:nvSpPr>
        <p:spPr>
          <a:xfrm>
            <a:off x="1610060" y="1506070"/>
            <a:ext cx="831386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/>
              <a:t>transforma el modelo conceptual en una estructura más organizada y técnica con sus respectivas cardinalidades.</a:t>
            </a:r>
            <a:endParaRPr lang="es-CO" sz="2400" dirty="0"/>
          </a:p>
          <a:p>
            <a:pPr algn="ctr"/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3890C36-77CB-2B18-F5DA-D5BBD385C4B4}"/>
              </a:ext>
            </a:extLst>
          </p:cNvPr>
          <p:cNvSpPr txBox="1"/>
          <p:nvPr/>
        </p:nvSpPr>
        <p:spPr>
          <a:xfrm>
            <a:off x="3194796" y="2859285"/>
            <a:ext cx="537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/>
              <a:t>NN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7D1227C-4DE8-B4F1-114B-7D9E502741A1}"/>
              </a:ext>
            </a:extLst>
          </p:cNvPr>
          <p:cNvSpPr txBox="1"/>
          <p:nvPr/>
        </p:nvSpPr>
        <p:spPr>
          <a:xfrm>
            <a:off x="6355078" y="3693807"/>
            <a:ext cx="537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/>
              <a:t>NN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E0C4B79-20E2-6ECF-7B50-2F4B93FA3C83}"/>
              </a:ext>
            </a:extLst>
          </p:cNvPr>
          <p:cNvSpPr txBox="1"/>
          <p:nvPr/>
        </p:nvSpPr>
        <p:spPr>
          <a:xfrm>
            <a:off x="10275791" y="4686388"/>
            <a:ext cx="12416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/>
              <a:t>NN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0AAA865-9D4B-84A9-53CA-4D6D9AD0AA0F}"/>
              </a:ext>
            </a:extLst>
          </p:cNvPr>
          <p:cNvSpPr txBox="1"/>
          <p:nvPr/>
        </p:nvSpPr>
        <p:spPr>
          <a:xfrm>
            <a:off x="6459070" y="4894728"/>
            <a:ext cx="537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/>
              <a:t>NN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62980E5-898E-0261-BFB3-00974DC57F0B}"/>
              </a:ext>
            </a:extLst>
          </p:cNvPr>
          <p:cNvSpPr txBox="1"/>
          <p:nvPr/>
        </p:nvSpPr>
        <p:spPr>
          <a:xfrm>
            <a:off x="9654988" y="2844077"/>
            <a:ext cx="537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/>
              <a:t>NN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023A932-287E-9484-6A23-FFE1F245BFCD}"/>
              </a:ext>
            </a:extLst>
          </p:cNvPr>
          <p:cNvSpPr txBox="1"/>
          <p:nvPr/>
        </p:nvSpPr>
        <p:spPr>
          <a:xfrm>
            <a:off x="5979459" y="2902297"/>
            <a:ext cx="537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/>
              <a:t>NN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4D11E0F-3D98-BB36-41A4-5A233222A711}"/>
              </a:ext>
            </a:extLst>
          </p:cNvPr>
          <p:cNvSpPr txBox="1"/>
          <p:nvPr/>
        </p:nvSpPr>
        <p:spPr>
          <a:xfrm>
            <a:off x="6355078" y="3858966"/>
            <a:ext cx="537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/>
              <a:t>NN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18FDF07-5BF3-EC3D-AA76-F9A468805B8C}"/>
              </a:ext>
            </a:extLst>
          </p:cNvPr>
          <p:cNvSpPr txBox="1"/>
          <p:nvPr/>
        </p:nvSpPr>
        <p:spPr>
          <a:xfrm>
            <a:off x="6086137" y="5430110"/>
            <a:ext cx="537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/>
              <a:t>NN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7CAC571-3058-221B-2E57-D150E5444A60}"/>
              </a:ext>
            </a:extLst>
          </p:cNvPr>
          <p:cNvSpPr txBox="1"/>
          <p:nvPr/>
        </p:nvSpPr>
        <p:spPr>
          <a:xfrm>
            <a:off x="9918548" y="3684284"/>
            <a:ext cx="537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/>
              <a:t>NN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59B8C86-A719-E2BD-B038-0C54DE1E6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155" y="2024083"/>
            <a:ext cx="7802064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791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CD4A9-7FE4-BED2-F1F4-10D3D356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485089"/>
            <a:ext cx="9601196" cy="1303867"/>
          </a:xfrm>
        </p:spPr>
        <p:txBody>
          <a:bodyPr/>
          <a:lstStyle/>
          <a:p>
            <a:r>
              <a:rPr lang="es-ES" b="1" dirty="0"/>
              <a:t>MODELO FÍSICO</a:t>
            </a:r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7FEFDBC-EC73-CAAB-C0A3-40A0599964B2}"/>
              </a:ext>
            </a:extLst>
          </p:cNvPr>
          <p:cNvSpPr txBox="1"/>
          <p:nvPr/>
        </p:nvSpPr>
        <p:spPr>
          <a:xfrm>
            <a:off x="663387" y="1406604"/>
            <a:ext cx="108652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/>
              <a:t>Es la implementación. Adapta el modelo lógico a un sistema gestor específico (como SQL Server, Oracle, o PostgreSQL) indicando el lenguaje exacto y optimizaciones técnicas</a:t>
            </a:r>
            <a:endParaRPr lang="es-CO" sz="2400" dirty="0"/>
          </a:p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4CB4CD-2336-03A4-3EB7-D45220BE8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2" y="2514600"/>
            <a:ext cx="9147901" cy="332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311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A082AB-85B3-340D-D6C0-4A37B846B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152" y="1250576"/>
            <a:ext cx="9566495" cy="427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037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B7525BD-6C8C-31D9-DE11-BC77ECC94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72" y="874914"/>
            <a:ext cx="9560858" cy="510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13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CD4A9-7FE4-BED2-F1F4-10D3D3562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/>
              <a:t>PROCEDIMIENTOS ALMACENADOS CRUD</a:t>
            </a:r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9BD6F35-2918-4DFE-9115-CCDF55508207}"/>
              </a:ext>
            </a:extLst>
          </p:cNvPr>
          <p:cNvSpPr txBox="1"/>
          <p:nvPr/>
        </p:nvSpPr>
        <p:spPr>
          <a:xfrm>
            <a:off x="809299" y="2412661"/>
            <a:ext cx="268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INSERTAR PACIENTE</a:t>
            </a:r>
            <a:endParaRPr lang="es-CO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5D7F9F7-142C-323E-C21A-5C463D370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35" y="2908655"/>
            <a:ext cx="10150129" cy="27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962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7F41FF60-3EAB-2F64-57E8-882A9B64E322}"/>
              </a:ext>
            </a:extLst>
          </p:cNvPr>
          <p:cNvSpPr txBox="1"/>
          <p:nvPr/>
        </p:nvSpPr>
        <p:spPr>
          <a:xfrm>
            <a:off x="1963271" y="1143000"/>
            <a:ext cx="2796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MOSTRAR PACIENTES</a:t>
            </a:r>
            <a:endParaRPr lang="es-CO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C3FB22E-3DDE-38C5-2CA9-587003E7D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271" y="1805132"/>
            <a:ext cx="7718612" cy="369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956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247546B9-B191-16A4-0E93-8861C42FEB89}"/>
              </a:ext>
            </a:extLst>
          </p:cNvPr>
          <p:cNvSpPr txBox="1"/>
          <p:nvPr/>
        </p:nvSpPr>
        <p:spPr>
          <a:xfrm>
            <a:off x="1329018" y="1273878"/>
            <a:ext cx="3926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ACTUALIZAR PACIENTE</a:t>
            </a:r>
            <a:endParaRPr lang="es-CO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399E68D-51F4-A06C-AE27-3D7B896D1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48" y="1889773"/>
            <a:ext cx="8754036" cy="38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323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5F3534DA-5D31-60B2-EE44-6CC6A3F98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857" y="1855694"/>
            <a:ext cx="9359153" cy="397241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9A36999-B977-DA07-7EF7-89807365FBEB}"/>
              </a:ext>
            </a:extLst>
          </p:cNvPr>
          <p:cNvSpPr txBox="1"/>
          <p:nvPr/>
        </p:nvSpPr>
        <p:spPr>
          <a:xfrm>
            <a:off x="1559857" y="1149261"/>
            <a:ext cx="5015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ELIMINAR PACIENTE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3842973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CD4A9-7FE4-BED2-F1F4-10D3D3562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/>
              <a:t>CONSULTAS UTILIZANDO INNER JOIN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0D1DBED-48AF-2F47-ED50-B4C79050F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753" y="3429000"/>
            <a:ext cx="8915400" cy="227679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86ED579-430E-52B8-7810-319FCE33DB1C}"/>
              </a:ext>
            </a:extLst>
          </p:cNvPr>
          <p:cNvSpPr txBox="1"/>
          <p:nvPr/>
        </p:nvSpPr>
        <p:spPr>
          <a:xfrm>
            <a:off x="1295402" y="2635624"/>
            <a:ext cx="5616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Mostrar paciente, médico y especialidad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565258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CD4A9-7FE4-BED2-F1F4-10D3D3562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/>
              <a:t>CONSULTAS UTILIZANDO INNER JOIN</a:t>
            </a:r>
            <a:endParaRPr lang="es-C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86ED579-430E-52B8-7810-319FCE33DB1C}"/>
              </a:ext>
            </a:extLst>
          </p:cNvPr>
          <p:cNvSpPr txBox="1"/>
          <p:nvPr/>
        </p:nvSpPr>
        <p:spPr>
          <a:xfrm>
            <a:off x="1295401" y="2635624"/>
            <a:ext cx="7230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Mostrar paciente, diagnóstico , tratamiento y medico</a:t>
            </a:r>
            <a:endParaRPr lang="es-CO" sz="2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45DB3FC-07FE-9FA4-5114-59025A8FE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241" y="3245208"/>
            <a:ext cx="8377517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09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CD4A9-7FE4-BED2-F1F4-10D3D3562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/>
              <a:t>CONSULTAS UTILIZANDO INNER JOIN</a:t>
            </a:r>
            <a:endParaRPr lang="es-C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86ED579-430E-52B8-7810-319FCE33DB1C}"/>
              </a:ext>
            </a:extLst>
          </p:cNvPr>
          <p:cNvSpPr txBox="1"/>
          <p:nvPr/>
        </p:nvSpPr>
        <p:spPr>
          <a:xfrm>
            <a:off x="1364878" y="2460811"/>
            <a:ext cx="8951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Mostrar paciente, diagnóstico , tratamiento , médico y especialidad</a:t>
            </a:r>
            <a:endParaRPr lang="es-CO" sz="2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85DA85A-C5B2-2306-C4DF-9DF23859A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878" y="3097288"/>
            <a:ext cx="9462244" cy="293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633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4">
            <a:extLst>
              <a:ext uri="{FF2B5EF4-FFF2-40B4-BE49-F238E27FC236}">
                <a16:creationId xmlns:a16="http://schemas.microsoft.com/office/drawing/2014/main" id="{E5037611-3070-72E1-4995-9EFA0E5A01B8}"/>
              </a:ext>
            </a:extLst>
          </p:cNvPr>
          <p:cNvSpPr txBox="1">
            <a:spLocks/>
          </p:cNvSpPr>
          <p:nvPr/>
        </p:nvSpPr>
        <p:spPr>
          <a:xfrm>
            <a:off x="1116982" y="2230244"/>
            <a:ext cx="9601196" cy="185068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CO" b="1" dirty="0"/>
              <a:t>¡MUCHAS GRACIAS POR LA ATENCIÓN!</a:t>
            </a:r>
          </a:p>
        </p:txBody>
      </p:sp>
    </p:spTree>
    <p:extLst>
      <p:ext uri="{BB962C8B-B14F-4D97-AF65-F5344CB8AC3E}">
        <p14:creationId xmlns:p14="http://schemas.microsoft.com/office/powerpoint/2010/main" val="6379350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405</TotalTime>
  <Words>364</Words>
  <Application>Microsoft Office PowerPoint</Application>
  <PresentationFormat>Panorámica</PresentationFormat>
  <Paragraphs>75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4" baseType="lpstr">
      <vt:lpstr>Arial</vt:lpstr>
      <vt:lpstr>Garamond</vt:lpstr>
      <vt:lpstr>Orgánico</vt:lpstr>
      <vt:lpstr>BASE DE DATOS SALUD TOTAL</vt:lpstr>
      <vt:lpstr>PROBLEMÁTICA</vt:lpstr>
      <vt:lpstr>ENTIDADES</vt:lpstr>
      <vt:lpstr>ATRIBUTOS</vt:lpstr>
      <vt:lpstr>ATRIBUTOS</vt:lpstr>
      <vt:lpstr>ATRIBUTOS</vt:lpstr>
      <vt:lpstr>ATRIBUTOS</vt:lpstr>
      <vt:lpstr>ATRIBUTOS</vt:lpstr>
      <vt:lpstr>MODELO CONCEPTUAL</vt:lpstr>
      <vt:lpstr>MODELO LÓGICO</vt:lpstr>
      <vt:lpstr>MODELO FÍSICO</vt:lpstr>
      <vt:lpstr>Presentación de PowerPoint</vt:lpstr>
      <vt:lpstr>Presentación de PowerPoint</vt:lpstr>
      <vt:lpstr>PROCEDIMIENTOS ALMACENADOS CRUD</vt:lpstr>
      <vt:lpstr>Presentación de PowerPoint</vt:lpstr>
      <vt:lpstr>Presentación de PowerPoint</vt:lpstr>
      <vt:lpstr>Presentación de PowerPoint</vt:lpstr>
      <vt:lpstr>CONSULTAS UTILIZANDO INNER JOIN</vt:lpstr>
      <vt:lpstr>CONSULTAS UTILIZANDO INNER JOIN</vt:lpstr>
      <vt:lpstr>CONSULTAS UTILIZANDO INNER JOIN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</dc:creator>
  <cp:lastModifiedBy>Carol</cp:lastModifiedBy>
  <cp:revision>14</cp:revision>
  <dcterms:created xsi:type="dcterms:W3CDTF">2026-05-25T05:40:23Z</dcterms:created>
  <dcterms:modified xsi:type="dcterms:W3CDTF">2026-06-22T05:51:03Z</dcterms:modified>
</cp:coreProperties>
</file>